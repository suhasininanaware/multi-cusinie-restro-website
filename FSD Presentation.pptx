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7CD7-7117-FF6E-3918-C48C7EC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CCD28-8582-489E-2AEB-7CF880A6A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FE17C-5B3B-D4BC-76A1-8FF63155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6BD0B-DBB0-06AE-1912-2EC20A7F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458AE-2368-986D-5FFE-B56979EA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33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B78B-AA0D-0E53-67CF-53301010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CA3B6-81AD-1B8D-B341-BC047A6C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3647-4417-BE61-4F87-D3AE9ED5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FEEDC-580C-DFA4-3DE0-07FA0FF6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409FB-3065-3AE9-5FE1-E90875D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31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8649-6ED5-2417-3BAA-677B0A16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94985-AA70-226C-7B22-CA78133E8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9933E-C434-1BAC-3197-1A17B88D6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DC63-48D1-D62A-8146-B4AAD724F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08C6C-FE59-D0FE-DF0E-BD3C012C1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46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F64F-6252-1A37-3A32-C911D13F6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E5BA1-4186-DBE9-0D9A-47679EDFF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8EE12-115E-D2AE-8494-FE3C6001F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7042C-B424-EFD8-B789-6326A18B4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F9205-158C-AB91-5095-4CED64AA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7D5F1-9D9E-B91F-3714-192CD456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0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CFF6F-6E79-E607-0473-5F24E465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7A8B-5312-9167-35C0-525F9C998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36795-15B8-E2F1-780B-557120452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2E2A8-DF36-B34C-6223-E37CE284E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1EF46-C3D0-88E8-6777-524890A37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65A8B-A2EA-42DE-6F6B-D1AFF2BD9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24CF80-24E2-C656-E2BA-FA8F9312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C45F0-13DB-F2ED-CB2F-07D5384D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4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1AEFB-9F2C-FABB-17AB-6DD7E6EA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5674A-DF27-9903-6975-6285C0F3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FA62C-7D4F-C112-3230-AB583330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B3BDE-3034-CFF9-91A7-E6EB0B2F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311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CB2B5-4095-A53F-82EB-77D8A10B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815A1-ADEB-C983-16A6-FE57F5C0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A8B5D-1C35-6B12-0D63-84CE2F74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84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0ED6-E41B-DF84-9DA1-3D2D07B1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7A5C6-3B2B-CE1F-A710-1D6AF18FF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C002E-50A6-3A30-700E-AF369475F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B9F27-B40E-075F-4B0C-56BCF19EB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1B4F2-CFEE-39F8-FB6E-3704F7A86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F4560-7569-178A-4FD0-C9D0F8C6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573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A6FD-2741-DADD-3A03-A72A1A0C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C136C0-8777-DD16-9E04-939772AB1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A5A7C-A027-B6F2-9D05-4EA7B092C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FA574-8FCB-FBF9-6677-E94E2FBD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B63AB-679B-4A3D-1E87-FCE11A82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A72F0-B057-D69B-38F2-CEBFEC0E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9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0546-B3F2-BCE5-6595-3F50DF66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C777D-AB6A-A99F-D5D6-F8627E21D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989CB-5A04-1B7A-F39A-C1583B568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78167-EB72-CC2E-227D-36FAB2EE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D2317-C28C-B3F2-7CD1-6071C507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098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D3CAA-5202-C332-98B3-5CEA1E2B6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14DD1-D6C7-7905-E8CD-60039D28F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25DBA-BE81-E21F-78D2-850B5A13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96B11-D773-E3D8-2BBC-F45B85E3C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470A3-9ABD-1590-D325-FDD2BFF4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98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4A906-7A31-99BD-F5D2-005236746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00130-29A0-2B74-C52B-11053A651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A551-2E08-DE6D-A787-582E960AF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D92D2-D546-488F-B61A-FDB26C2F7DDC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8281F-6286-179B-57C1-B6D6B2657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D84E4-F728-DEF2-4D38-3E8E0587E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23E69-CE75-4327-BE5E-1E09D9D7A4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8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D1004E5F-8A1F-0B04-DB92-59C61A60F3F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9CD97C7D-0058-D98D-D7EB-878DDD6BB4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06524E41-C575-3BF1-3165-60485B5F78BD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DCFE5-CCD8-E50F-9952-6111C3050276}"/>
              </a:ext>
            </a:extLst>
          </p:cNvPr>
          <p:cNvSpPr txBox="1"/>
          <p:nvPr/>
        </p:nvSpPr>
        <p:spPr>
          <a:xfrm>
            <a:off x="878478" y="1221474"/>
            <a:ext cx="99665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600" b="1" dirty="0">
                <a:ea typeface="Times New Roman"/>
                <a:cs typeface="Times New Roman"/>
                <a:sym typeface="Times New Roman"/>
              </a:rPr>
              <a:t>Third</a:t>
            </a:r>
            <a:r>
              <a:rPr lang="en-US" sz="3600" b="1" i="0" u="none" strike="noStrike" cap="none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 Year Engineering</a:t>
            </a:r>
            <a:endParaRPr lang="en-US" sz="3600" b="0" i="0" u="none" strike="noStrike" cap="none"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600" b="1" dirty="0">
                <a:solidFill>
                  <a:srgbClr val="CC00CC"/>
                </a:solidFill>
                <a:ea typeface="Times New Roman"/>
                <a:cs typeface="Times New Roman"/>
                <a:sym typeface="Times New Roman"/>
              </a:rPr>
              <a:t>Full Stack Frontend Development </a:t>
            </a:r>
            <a:endParaRPr lang="en-US" sz="3600" b="1" i="0" u="none" strike="noStrike" cap="none" dirty="0">
              <a:solidFill>
                <a:srgbClr val="CC00CC"/>
              </a:solidFill>
              <a:ea typeface="Times New Roman"/>
              <a:cs typeface="Times New Roman"/>
              <a:sym typeface="Times New Roman"/>
            </a:endParaRPr>
          </a:p>
          <a:p>
            <a:pPr marL="465138" lvl="0">
              <a:buClr>
                <a:srgbClr val="000000"/>
              </a:buClr>
              <a:buSzPts val="3000"/>
            </a:pPr>
            <a:r>
              <a:rPr lang="en-US" sz="3600" b="1" i="0" u="none" strike="noStrike" cap="none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Student Name: </a:t>
            </a:r>
            <a:r>
              <a:rPr lang="en-IN" sz="3600" dirty="0"/>
              <a:t>Suhasini</a:t>
            </a:r>
            <a:r>
              <a:rPr lang="en-IN" sz="3600" dirty="0"/>
              <a:t> </a:t>
            </a:r>
            <a:r>
              <a:rPr lang="en-IN" sz="3600" dirty="0"/>
              <a:t>Nanaware</a:t>
            </a:r>
            <a:r>
              <a:rPr lang="en-IN" sz="3600" dirty="0"/>
              <a:t> </a:t>
            </a:r>
            <a:r>
              <a:rPr lang="en-US" sz="3600" b="1" i="0" u="none" strike="noStrike" cap="none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/>
            </a:r>
            <a:br>
              <a:rPr lang="en-US" sz="3600" b="1" i="0" u="none" strike="noStrike" cap="none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</a:br>
            <a:r>
              <a:rPr lang="en-US" sz="3600" b="1" i="0" u="none" strike="noStrike" cap="none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Enrollment Number: </a:t>
            </a:r>
            <a:r>
              <a:rPr lang="en-US" sz="3600" i="0" u="none" strike="noStrike" cap="none" dirty="0" smtClean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ADT23SOCB1566</a:t>
            </a:r>
            <a:endParaRPr lang="en-US" sz="3600" i="0" u="none" strike="noStrike" cap="none" dirty="0">
              <a:solidFill>
                <a:srgbClr val="000000"/>
              </a:solidFill>
              <a:ea typeface="Times New Roman"/>
              <a:cs typeface="Times New Roman"/>
              <a:sym typeface="Times New Roman"/>
            </a:endParaRPr>
          </a:p>
          <a:p>
            <a:pPr marL="465138" lvl="0">
              <a:buClr>
                <a:srgbClr val="000000"/>
              </a:buClr>
              <a:buSzPts val="3000"/>
            </a:pPr>
            <a:r>
              <a:rPr lang="en-US" sz="3600" b="1" dirty="0"/>
              <a:t>Project Title:</a:t>
            </a:r>
            <a:r>
              <a:rPr lang="en-US" sz="3600" dirty="0"/>
              <a:t> </a:t>
            </a:r>
            <a:r>
              <a:rPr lang="en-IN" sz="3600" dirty="0"/>
              <a:t>Multi-Cuisine Restaurant Website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b="1" dirty="0"/>
              <a:t>Guide/Supervisor:</a:t>
            </a:r>
            <a:r>
              <a:rPr lang="en-US" sz="3600" dirty="0"/>
              <a:t> Prof. Rohini Bhosale</a:t>
            </a:r>
            <a:br>
              <a:rPr lang="en-US" sz="3600" dirty="0"/>
            </a:br>
            <a:r>
              <a:rPr lang="en-US" sz="3600" b="1" dirty="0"/>
              <a:t>Institution/Department:</a:t>
            </a:r>
            <a:r>
              <a:rPr lang="en-US" sz="3600" dirty="0"/>
              <a:t> MIT ADT University </a:t>
            </a:r>
            <a:r>
              <a:rPr lang="en-US" sz="3600" dirty="0" smtClean="0"/>
              <a:t>- </a:t>
            </a:r>
            <a:r>
              <a:rPr lang="en-US" sz="3600" dirty="0"/>
              <a:t>School of </a:t>
            </a:r>
            <a:r>
              <a:rPr lang="en-US" sz="3600" dirty="0" smtClean="0"/>
              <a:t>Computing  </a:t>
            </a:r>
          </a:p>
          <a:p>
            <a:pPr marL="465138" lvl="0">
              <a:buClr>
                <a:srgbClr val="000000"/>
              </a:buClr>
              <a:buSzPts val="3000"/>
            </a:pPr>
            <a:r>
              <a:rPr lang="en-US" sz="3600" b="1" i="0" u="none" strike="noStrike" cap="none" dirty="0" smtClean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Date</a:t>
            </a:r>
            <a:r>
              <a:rPr lang="en-US" sz="3600" b="1" i="0" u="none" strike="noStrike" cap="none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3600" b="1" dirty="0">
                <a:solidFill>
                  <a:srgbClr val="000000"/>
                </a:solidFill>
                <a:ea typeface="Times New Roman"/>
                <a:cs typeface="Times New Roman"/>
                <a:sym typeface="Times New Roman"/>
              </a:rPr>
              <a:t>07-11-2025</a:t>
            </a:r>
            <a:endParaRPr lang="en-US" sz="3600" b="1" i="0" u="none" strike="noStrike" cap="none" dirty="0">
              <a:solidFill>
                <a:srgbClr val="000000"/>
              </a:solidFill>
              <a:ea typeface="Times New Roman"/>
              <a:cs typeface="Times New Roman"/>
              <a:sym typeface="Times New Roman"/>
            </a:endParaRPr>
          </a:p>
          <a:p>
            <a:pPr marL="465138" marR="0"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lang="en-US" sz="2800" b="1" i="0" u="none" strike="noStrike" cap="none" dirty="0">
              <a:solidFill>
                <a:srgbClr val="000000"/>
              </a:solidFill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8249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11B8-E7D6-A4BF-6EB6-4F170B101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1B6C85B-885D-F1A6-9F50-BEA9A6B730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33472534-A799-E3D5-1EA9-F01A63A67C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CB6E617-F0BD-58E8-5DAC-3C3A8A41011F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005FF-37C5-DD3D-F975-5E8944D36FC5}"/>
              </a:ext>
            </a:extLst>
          </p:cNvPr>
          <p:cNvSpPr txBox="1"/>
          <p:nvPr/>
        </p:nvSpPr>
        <p:spPr>
          <a:xfrm>
            <a:off x="506186" y="1346796"/>
            <a:ext cx="1012371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Introduction: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The </a:t>
            </a:r>
            <a:r>
              <a:rPr lang="en-US" sz="2000" i="1" dirty="0"/>
              <a:t>Multi-Cuisine Restaurant Website</a:t>
            </a:r>
            <a:r>
              <a:rPr lang="en-US" sz="2000" dirty="0"/>
              <a:t> is a dynamic web application that allows customers to explore menus, register, log in, add items to their cart, and contact the restaurant online. It enhances accessibility and improves customer engagement.</a:t>
            </a:r>
          </a:p>
          <a:p>
            <a:pPr marL="114300" indent="0">
              <a:buNone/>
            </a:pPr>
            <a:endParaRPr lang="en-US" sz="2000" dirty="0"/>
          </a:p>
          <a:p>
            <a:r>
              <a:rPr lang="en-US" sz="2000" b="1" dirty="0"/>
              <a:t>Problem Statement: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Traditional restaurants lack digital presence and efficient ordering systems, limiting customer reach and convenience.</a:t>
            </a:r>
          </a:p>
          <a:p>
            <a:pPr marL="114300" indent="0">
              <a:buNone/>
            </a:pPr>
            <a:endParaRPr lang="en-US" sz="2000" dirty="0"/>
          </a:p>
          <a:p>
            <a:r>
              <a:rPr lang="en-US" sz="2000" b="1" dirty="0"/>
              <a:t>Motivation: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To create an appealing and functional restaurant website that simplifies food selection and ordering while showcasing menu diversity.</a:t>
            </a:r>
          </a:p>
          <a:p>
            <a:pPr marL="114300" indent="0">
              <a:buNone/>
            </a:pPr>
            <a:endParaRPr lang="en-US" sz="2000" dirty="0"/>
          </a:p>
          <a:p>
            <a:r>
              <a:rPr lang="en-US" sz="2000" b="1" dirty="0"/>
              <a:t>Proposed Solution: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A responsive, user-friendly website built with HTML, CSS, JavaScript &amp; React that enables customers to browse, order, and connect with the restaurant efficiently.</a:t>
            </a:r>
          </a:p>
          <a:p>
            <a:pP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462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CB9A5-DB90-4EEF-B879-576FE6B6D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106FEF5A-D501-707F-7F4B-4B28E55767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1D4A9B45-24E8-3F2D-3CBE-3352743F5D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8F3A092-F33E-FEC2-C548-56A5B6E99C19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38F1B-5D29-6BCC-FCCE-DB37CB043CA4}"/>
              </a:ext>
            </a:extLst>
          </p:cNvPr>
          <p:cNvSpPr txBox="1"/>
          <p:nvPr/>
        </p:nvSpPr>
        <p:spPr>
          <a:xfrm>
            <a:off x="587829" y="1809631"/>
            <a:ext cx="982957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b="1" dirty="0"/>
              <a:t>Includes:</a:t>
            </a:r>
          </a:p>
          <a:p>
            <a:r>
              <a:rPr lang="en-IN" sz="2000" dirty="0"/>
              <a:t>Home, About, Menu, Cart, Contact, Login, and Registration pages.</a:t>
            </a:r>
          </a:p>
          <a:p>
            <a:r>
              <a:rPr lang="en-IN" sz="2000" dirty="0"/>
              <a:t>Form validation and cart management using JavaScript.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sz="2000" b="1" dirty="0"/>
              <a:t>Excludes:</a:t>
            </a:r>
          </a:p>
          <a:p>
            <a:r>
              <a:rPr lang="en-IN" sz="2000" dirty="0"/>
              <a:t>Online payment gateway (future scope).</a:t>
            </a:r>
          </a:p>
          <a:p>
            <a:r>
              <a:rPr lang="en-IN" sz="2000" dirty="0"/>
              <a:t>Live order tracking.</a:t>
            </a:r>
          </a:p>
          <a:p>
            <a:pPr marL="114300" indent="0">
              <a:buNone/>
            </a:pPr>
            <a:endParaRPr lang="en-IN" sz="2000" b="1" dirty="0"/>
          </a:p>
          <a:p>
            <a:pPr marL="114300" indent="0">
              <a:buNone/>
            </a:pPr>
            <a:r>
              <a:rPr lang="en-IN" sz="2000" b="1" dirty="0"/>
              <a:t>Key Objectives:</a:t>
            </a:r>
            <a:endParaRPr lang="en-IN" sz="2000" dirty="0"/>
          </a:p>
          <a:p>
            <a:r>
              <a:rPr lang="en-IN" sz="2000" dirty="0"/>
              <a:t>Implement form validation and </a:t>
            </a:r>
            <a:r>
              <a:rPr lang="en-IN" sz="2000" dirty="0"/>
              <a:t>localStorage</a:t>
            </a:r>
            <a:r>
              <a:rPr lang="en-IN" sz="2000" dirty="0"/>
              <a:t>-based authentication.</a:t>
            </a:r>
          </a:p>
          <a:p>
            <a:r>
              <a:rPr lang="en-IN" sz="2000" dirty="0"/>
              <a:t>Design a responsive, attractive UI.</a:t>
            </a:r>
          </a:p>
          <a:p>
            <a:r>
              <a:rPr lang="en-IN" sz="2000" dirty="0"/>
              <a:t>Develop a dynamic cart system using JavaScript.</a:t>
            </a:r>
          </a:p>
          <a:p>
            <a:r>
              <a:rPr lang="en-IN" sz="2000" dirty="0"/>
              <a:t>Enhance user experience through clean navigation and interaction.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37A69-1251-7BA2-5BD1-25480FB0F4A4}"/>
              </a:ext>
            </a:extLst>
          </p:cNvPr>
          <p:cNvSpPr txBox="1"/>
          <p:nvPr/>
        </p:nvSpPr>
        <p:spPr>
          <a:xfrm>
            <a:off x="266530" y="1006239"/>
            <a:ext cx="6237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Scope and Objectives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2574487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69B0-C91C-2013-B219-6FFD483D5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CA2A09C1-B272-0D54-2A20-C97F27AF84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7699A0C4-A249-54A1-A593-70FA6EE897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E4E67BEF-5F06-72D7-DD85-93F5AAEA4EBD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074F43A-6812-92E2-3370-71FC35C22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79586"/>
              </p:ext>
            </p:extLst>
          </p:nvPr>
        </p:nvGraphicFramePr>
        <p:xfrm>
          <a:off x="495182" y="2110493"/>
          <a:ext cx="9612086" cy="3911968"/>
        </p:xfrm>
        <a:graphic>
          <a:graphicData uri="http://schemas.openxmlformats.org/drawingml/2006/table">
            <a:tbl>
              <a:tblPr/>
              <a:tblGrid>
                <a:gridCol w="3668604">
                  <a:extLst>
                    <a:ext uri="{9D8B030D-6E8A-4147-A177-3AD203B41FA5}">
                      <a16:colId xmlns:a16="http://schemas.microsoft.com/office/drawing/2014/main" val="1370817284"/>
                    </a:ext>
                  </a:extLst>
                </a:gridCol>
                <a:gridCol w="5943482">
                  <a:extLst>
                    <a:ext uri="{9D8B030D-6E8A-4147-A177-3AD203B41FA5}">
                      <a16:colId xmlns:a16="http://schemas.microsoft.com/office/drawing/2014/main" val="2192090423"/>
                    </a:ext>
                  </a:extLst>
                </a:gridCol>
              </a:tblGrid>
              <a:tr h="530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Technologies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270005"/>
                  </a:ext>
                </a:extLst>
              </a:tr>
              <a:tr h="9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Front-End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React.js, HTML5, CSS3, JavaScript, Tailwind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350409"/>
                  </a:ext>
                </a:extLst>
              </a:tr>
              <a:tr h="1425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Database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(optional), LocalStorage for this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227984"/>
                  </a:ext>
                </a:extLst>
              </a:tr>
              <a:tr h="9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b="1" dirty="0"/>
                        <a:t>Other Tools</a:t>
                      </a:r>
                      <a:endParaRPr lang="en-IN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Git, GitHub, npm, VS Code.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2344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D7CD48-D290-1B41-FB47-53B0BBFCDA9E}"/>
              </a:ext>
            </a:extLst>
          </p:cNvPr>
          <p:cNvSpPr txBox="1"/>
          <p:nvPr/>
        </p:nvSpPr>
        <p:spPr>
          <a:xfrm>
            <a:off x="266530" y="1000759"/>
            <a:ext cx="6237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Technology Stack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150449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041E-BA66-0E52-710A-42CD822D6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B3ECBD12-08F9-7D5C-1BAB-D1B4DC2976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A4FDD426-3278-C7B8-C89B-6CD665FA74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CE63810-C72D-9C4B-EE29-A5CF13C38548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E0F13-4938-DC00-02D8-FD388DA4C064}"/>
              </a:ext>
            </a:extLst>
          </p:cNvPr>
          <p:cNvSpPr txBox="1"/>
          <p:nvPr/>
        </p:nvSpPr>
        <p:spPr>
          <a:xfrm>
            <a:off x="510758" y="2140188"/>
            <a:ext cx="832757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000" b="1" dirty="0"/>
              <a:t>ER Diagram Example:</a:t>
            </a:r>
            <a:endParaRPr lang="en-IN" sz="2000" dirty="0"/>
          </a:p>
          <a:p>
            <a:r>
              <a:rPr lang="en-IN" sz="2000" b="1" dirty="0"/>
              <a:t>User</a:t>
            </a:r>
            <a:r>
              <a:rPr lang="en-IN" sz="2000" dirty="0"/>
              <a:t> (</a:t>
            </a:r>
            <a:r>
              <a:rPr lang="en-IN" sz="2000" dirty="0"/>
              <a:t>UserID</a:t>
            </a:r>
            <a:r>
              <a:rPr lang="en-IN" sz="2000" dirty="0"/>
              <a:t>, Name, Email, Password)</a:t>
            </a:r>
          </a:p>
          <a:p>
            <a:r>
              <a:rPr lang="en-IN" sz="2000" b="1" dirty="0"/>
              <a:t>MenuItem</a:t>
            </a:r>
            <a:r>
              <a:rPr lang="en-IN" sz="2000" dirty="0"/>
              <a:t> (</a:t>
            </a:r>
            <a:r>
              <a:rPr lang="en-IN" sz="2000" dirty="0"/>
              <a:t>ItemID</a:t>
            </a:r>
            <a:r>
              <a:rPr lang="en-IN" sz="2000" dirty="0"/>
              <a:t>, </a:t>
            </a:r>
            <a:r>
              <a:rPr lang="en-IN" sz="2000" dirty="0"/>
              <a:t>ItemName</a:t>
            </a:r>
            <a:r>
              <a:rPr lang="en-IN" sz="2000" dirty="0"/>
              <a:t>, Price, Category)</a:t>
            </a:r>
          </a:p>
          <a:p>
            <a:r>
              <a:rPr lang="en-IN" sz="2000" b="1" dirty="0"/>
              <a:t>Cart</a:t>
            </a:r>
            <a:r>
              <a:rPr lang="en-IN" sz="2000" dirty="0"/>
              <a:t> (</a:t>
            </a:r>
            <a:r>
              <a:rPr lang="en-IN" sz="2000" dirty="0"/>
              <a:t>CartID</a:t>
            </a:r>
            <a:r>
              <a:rPr lang="en-IN" sz="2000" dirty="0"/>
              <a:t>, </a:t>
            </a:r>
            <a:r>
              <a:rPr lang="en-IN" sz="2000" dirty="0"/>
              <a:t>UserID</a:t>
            </a:r>
            <a:r>
              <a:rPr lang="en-IN" sz="2000" dirty="0"/>
              <a:t>, </a:t>
            </a:r>
            <a:r>
              <a:rPr lang="en-IN" sz="2000" dirty="0"/>
              <a:t>ItemID</a:t>
            </a:r>
            <a:r>
              <a:rPr lang="en-IN" sz="2000" dirty="0"/>
              <a:t>, Quantity, Total)</a:t>
            </a:r>
          </a:p>
          <a:p>
            <a:pPr marL="114300" indent="0">
              <a:buNone/>
            </a:pPr>
            <a:endParaRPr lang="en-IN" sz="2000" dirty="0"/>
          </a:p>
          <a:p>
            <a:pPr marL="114300" indent="0">
              <a:buNone/>
            </a:pPr>
            <a:r>
              <a:rPr lang="en-IN" sz="2000" b="1" dirty="0"/>
              <a:t>Relationships:</a:t>
            </a:r>
          </a:p>
          <a:p>
            <a:r>
              <a:rPr lang="en-IN" sz="2000" dirty="0"/>
              <a:t>One user can have multiple items in a cart.</a:t>
            </a:r>
          </a:p>
          <a:p>
            <a:r>
              <a:rPr lang="en-IN" sz="2000" dirty="0"/>
              <a:t>One menu item can appear in multiple users’ carts.</a:t>
            </a:r>
          </a:p>
          <a:p>
            <a:pPr lvl="0">
              <a:buSzPts val="3200"/>
            </a:pPr>
            <a:endParaRPr lang="en-IN" sz="2000" dirty="0"/>
          </a:p>
          <a:p>
            <a:pPr lvl="0">
              <a:buSzPts val="3200"/>
            </a:pPr>
            <a:endParaRPr lang="en-IN" sz="2000" dirty="0"/>
          </a:p>
          <a:p>
            <a:pPr lvl="0">
              <a:buSzPts val="3200"/>
            </a:pPr>
            <a:endParaRPr lang="en-IN" sz="2000" b="1" dirty="0"/>
          </a:p>
          <a:p>
            <a:pPr lvl="0">
              <a:buSzPts val="3200"/>
            </a:pPr>
            <a:endParaRPr lang="en-IN" sz="2000" b="1" dirty="0"/>
          </a:p>
          <a:p>
            <a:pPr>
              <a:buNone/>
            </a:pP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96774-EAFA-60DE-E1B7-EB925DF5EBDD}"/>
              </a:ext>
            </a:extLst>
          </p:cNvPr>
          <p:cNvSpPr txBox="1"/>
          <p:nvPr/>
        </p:nvSpPr>
        <p:spPr>
          <a:xfrm>
            <a:off x="510758" y="1179092"/>
            <a:ext cx="6237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400" b="1" dirty="0"/>
              <a:t>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74870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B3D4-B21F-961E-0DF2-5AE25B61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140F38C5-0E57-FAE3-2B8C-121F26F34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23C8ED22-F7E0-8712-A163-669F2F1E0E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A7C3BB90-C8B8-9467-5115-D1D552BA0D1D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2F43A-5823-5FF8-AAEC-18F3A558B14D}"/>
              </a:ext>
            </a:extLst>
          </p:cNvPr>
          <p:cNvSpPr txBox="1"/>
          <p:nvPr/>
        </p:nvSpPr>
        <p:spPr>
          <a:xfrm>
            <a:off x="244928" y="1172489"/>
            <a:ext cx="77397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Implementation &amp; Results (Front-end)</a:t>
            </a:r>
            <a:endParaRPr lang="en-US" sz="32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791" y="1757264"/>
            <a:ext cx="5555969" cy="25094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28" y="1760508"/>
            <a:ext cx="4776439" cy="33093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567" y="4460240"/>
            <a:ext cx="4838001" cy="202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1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7D35-C2C9-5BF7-FCC0-6D66E8E6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7B89B111-C14F-FCB7-649A-15BE1D41E9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8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FFF4F807-AD83-749F-8F37-EFD13E636C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348FA84F-DD17-4BFD-E89B-105E336005C4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A1FBF-B597-C601-4DAF-8CE43761D2E6}"/>
              </a:ext>
            </a:extLst>
          </p:cNvPr>
          <p:cNvSpPr txBox="1"/>
          <p:nvPr/>
        </p:nvSpPr>
        <p:spPr>
          <a:xfrm>
            <a:off x="359229" y="1221474"/>
            <a:ext cx="1894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8" y="1301733"/>
            <a:ext cx="4230013" cy="40842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108" y="1323807"/>
            <a:ext cx="4158595" cy="419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8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7D35-C2C9-5BF7-FCC0-6D66E8E68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7B89B111-C14F-FCB7-649A-15BE1D41E9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8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FFF4F807-AD83-749F-8F37-EFD13E636C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348FA84F-DD17-4BFD-E89B-105E336005C4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A1FBF-B597-C601-4DAF-8CE43761D2E6}"/>
              </a:ext>
            </a:extLst>
          </p:cNvPr>
          <p:cNvSpPr txBox="1"/>
          <p:nvPr/>
        </p:nvSpPr>
        <p:spPr>
          <a:xfrm>
            <a:off x="359229" y="1221474"/>
            <a:ext cx="1894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61" y="1394164"/>
            <a:ext cx="3647419" cy="50041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689" y="1394164"/>
            <a:ext cx="4742539" cy="500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4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EB27-0A8F-30ED-7403-7D91A5BFE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64FFEB44-301C-C927-214A-AB56810046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D475CF8A-BB8F-5DD1-CD4B-EF2C81C46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8AC58CE7-EECA-08DC-8AEB-7F06DC380AB6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3716D5C-6ACF-D17C-06B3-A1D51A46A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299793"/>
              </p:ext>
            </p:extLst>
          </p:nvPr>
        </p:nvGraphicFramePr>
        <p:xfrm>
          <a:off x="695813" y="1943100"/>
          <a:ext cx="8497174" cy="4178539"/>
        </p:xfrm>
        <a:graphic>
          <a:graphicData uri="http://schemas.openxmlformats.org/drawingml/2006/table">
            <a:tbl>
              <a:tblPr/>
              <a:tblGrid>
                <a:gridCol w="4248587">
                  <a:extLst>
                    <a:ext uri="{9D8B030D-6E8A-4147-A177-3AD203B41FA5}">
                      <a16:colId xmlns:a16="http://schemas.microsoft.com/office/drawing/2014/main" val="245503801"/>
                    </a:ext>
                  </a:extLst>
                </a:gridCol>
                <a:gridCol w="4248587">
                  <a:extLst>
                    <a:ext uri="{9D8B030D-6E8A-4147-A177-3AD203B41FA5}">
                      <a16:colId xmlns:a16="http://schemas.microsoft.com/office/drawing/2014/main" val="1152616422"/>
                    </a:ext>
                  </a:extLst>
                </a:gridCol>
              </a:tblGrid>
              <a:tr h="508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233143"/>
                  </a:ext>
                </a:extLst>
              </a:tr>
              <a:tr h="1366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React state management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Used React </a:t>
                      </a:r>
                      <a:r>
                        <a:rPr lang="en-US" sz="2600" dirty="0" smtClean="0"/>
                        <a:t>Hooks</a:t>
                      </a:r>
                      <a:endParaRPr lang="en-US" sz="2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264126"/>
                  </a:ext>
                </a:extLst>
              </a:tr>
              <a:tr h="1366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Navigation between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Used conditional rendering / React Router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665170"/>
                  </a:ext>
                </a:extLst>
              </a:tr>
              <a:tr h="937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LocalStorage persistence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Implemented logic to store user session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7790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2BEB9C-ADA5-3F6D-E622-3F45E0BC403B}"/>
              </a:ext>
            </a:extLst>
          </p:cNvPr>
          <p:cNvSpPr txBox="1"/>
          <p:nvPr/>
        </p:nvSpPr>
        <p:spPr>
          <a:xfrm>
            <a:off x="364502" y="1048784"/>
            <a:ext cx="623751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Challenges and Solutions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2938566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A5E23-E44D-F5E5-EBFD-CB4ACF3A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F356FA4D-57FC-D061-1E41-ED8CE8CADFC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2D6FA1A9-C5D7-F078-FF28-0D50388044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895660B-B0FA-F307-5AC7-72DAC03BF197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1AD63-713C-353B-F74B-B33AD2B3662D}"/>
              </a:ext>
            </a:extLst>
          </p:cNvPr>
          <p:cNvSpPr txBox="1"/>
          <p:nvPr/>
        </p:nvSpPr>
        <p:spPr>
          <a:xfrm>
            <a:off x="908846" y="1635376"/>
            <a:ext cx="867047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Successfully developed a fully functional and responsive Multi-Cuisine Restaurant Website showcasing diverse food categories </a:t>
            </a:r>
            <a:r>
              <a:rPr lang="en-US" sz="2000" dirty="0" smtClean="0"/>
              <a:t>&amp; details attractively.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Gained </a:t>
            </a:r>
            <a:r>
              <a:rPr lang="en-US" sz="2000" dirty="0"/>
              <a:t>hands-on experience in front-end development using HTML5, CSS3, </a:t>
            </a:r>
            <a:r>
              <a:rPr lang="en-US" sz="2000" dirty="0" smtClean="0"/>
              <a:t>JavaScript &amp; React</a:t>
            </a:r>
            <a:r>
              <a:rPr lang="en-US" sz="2000" dirty="0"/>
              <a:t>, focusing on responsive layouts, DOM </a:t>
            </a:r>
            <a:r>
              <a:rPr lang="en-US" sz="2000" dirty="0" smtClean="0"/>
              <a:t>manipulation &amp; client-side </a:t>
            </a:r>
            <a:r>
              <a:rPr lang="en-US" sz="2000" dirty="0"/>
              <a:t>data </a:t>
            </a:r>
            <a:r>
              <a:rPr lang="en-US" sz="2000" dirty="0" smtClean="0"/>
              <a:t>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Enhanced </a:t>
            </a:r>
            <a:r>
              <a:rPr lang="en-US" sz="2000" dirty="0"/>
              <a:t>understanding of user experience design, navigation </a:t>
            </a:r>
            <a:r>
              <a:rPr lang="en-US" sz="2000" dirty="0" smtClean="0"/>
              <a:t>flow &amp; project </a:t>
            </a:r>
            <a:r>
              <a:rPr lang="en-US" sz="2000" dirty="0"/>
              <a:t>structuring, resulting in a </a:t>
            </a:r>
            <a:r>
              <a:rPr lang="en-US" sz="2000" dirty="0" smtClean="0"/>
              <a:t>professional &amp; aesthetically </a:t>
            </a:r>
            <a:r>
              <a:rPr lang="en-US" sz="2000" dirty="0"/>
              <a:t>pleasing restaurant interface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Future Enhancements: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Admin Dashboard </a:t>
            </a:r>
            <a:r>
              <a:rPr lang="en-US" sz="2000" dirty="0"/>
              <a:t>for managing menu items, </a:t>
            </a:r>
            <a:r>
              <a:rPr lang="en-US" sz="2000" dirty="0" smtClean="0"/>
              <a:t>orders &amp; user </a:t>
            </a:r>
            <a:r>
              <a:rPr lang="en-US" sz="2000" dirty="0"/>
              <a:t>accounts.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Online Payment Integration </a:t>
            </a:r>
            <a:r>
              <a:rPr lang="en-US" sz="2000" dirty="0"/>
              <a:t>using </a:t>
            </a:r>
            <a:r>
              <a:rPr lang="en-US" sz="2000" dirty="0"/>
              <a:t>Razorpay</a:t>
            </a:r>
            <a:r>
              <a:rPr lang="en-US" sz="2000" dirty="0"/>
              <a:t> or Stripe for secure transactions.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Order Tracking System </a:t>
            </a:r>
            <a:r>
              <a:rPr lang="en-US" sz="2000" dirty="0"/>
              <a:t>to provide real-time updates to users.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Customer Reviews &amp; Ratings </a:t>
            </a:r>
            <a:r>
              <a:rPr lang="en-US" sz="2000" dirty="0"/>
              <a:t>section for better engagement </a:t>
            </a:r>
            <a:r>
              <a:rPr lang="en-US" sz="2000" dirty="0" smtClean="0"/>
              <a:t>&amp; feedback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Dark/Light Mode </a:t>
            </a:r>
            <a:r>
              <a:rPr lang="en-US" sz="2000" dirty="0"/>
              <a:t>toggle to enhance user accessibility </a:t>
            </a:r>
            <a:r>
              <a:rPr lang="en-US" sz="2000" dirty="0" smtClean="0"/>
              <a:t>&amp; design </a:t>
            </a:r>
            <a:r>
              <a:rPr lang="en-US" sz="2000" dirty="0"/>
              <a:t>appeal.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41FF71-4090-C1CF-CF2A-7C768937E353}"/>
              </a:ext>
            </a:extLst>
          </p:cNvPr>
          <p:cNvSpPr txBox="1"/>
          <p:nvPr/>
        </p:nvSpPr>
        <p:spPr>
          <a:xfrm>
            <a:off x="266530" y="1045713"/>
            <a:ext cx="6237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Conclusion and Future Scope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518310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EFE2-81E9-598B-70C7-2A9017566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A623966-CE66-E4AA-4B7F-127327BD36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3;p1">
            <a:extLst>
              <a:ext uri="{FF2B5EF4-FFF2-40B4-BE49-F238E27FC236}">
                <a16:creationId xmlns:a16="http://schemas.microsoft.com/office/drawing/2014/main" id="{A275BF64-FA2D-A357-C34F-3ABF597F22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02" y="1921"/>
            <a:ext cx="6725970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p1">
            <a:extLst>
              <a:ext uri="{FF2B5EF4-FFF2-40B4-BE49-F238E27FC236}">
                <a16:creationId xmlns:a16="http://schemas.microsoft.com/office/drawing/2014/main" id="{73EDB039-75C9-4273-03B8-EDF94B74E1AA}"/>
              </a:ext>
            </a:extLst>
          </p:cNvPr>
          <p:cNvSpPr txBox="1"/>
          <p:nvPr/>
        </p:nvSpPr>
        <p:spPr>
          <a:xfrm>
            <a:off x="908846" y="217156"/>
            <a:ext cx="4952882" cy="78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lang="en-IN" sz="16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48E48-C3C4-E835-029A-D287BEC40505}"/>
              </a:ext>
            </a:extLst>
          </p:cNvPr>
          <p:cNvSpPr txBox="1"/>
          <p:nvPr/>
        </p:nvSpPr>
        <p:spPr>
          <a:xfrm>
            <a:off x="3511441" y="3090446"/>
            <a:ext cx="516911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800" b="1" dirty="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lang="en-US" sz="3800" b="1" i="0" u="none" strike="noStrike" cap="none" dirty="0">
              <a:solidFill>
                <a:srgbClr val="CC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940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398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Isha Yadav</dc:creator>
  <cp:lastModifiedBy>Admin</cp:lastModifiedBy>
  <cp:revision>4</cp:revision>
  <dcterms:created xsi:type="dcterms:W3CDTF">2025-11-07T03:30:36Z</dcterms:created>
  <dcterms:modified xsi:type="dcterms:W3CDTF">2025-11-07T05:07:11Z</dcterms:modified>
</cp:coreProperties>
</file>